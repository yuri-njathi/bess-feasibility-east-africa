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Inter Medium" panose="020B0604020202020204" charset="0"/>
      <p:regular r:id="rId16"/>
      <p:bold r:id="rId17"/>
      <p:italic r:id="rId18"/>
      <p:boldItalic r:id="rId19"/>
    </p:embeddedFont>
    <p:embeddedFont>
      <p:font typeface="Inter SemiBold" panose="020B0604020202020204" charset="0"/>
      <p:regular r:id="rId20"/>
      <p:bold r:id="rId21"/>
      <p:italic r:id="rId22"/>
      <p:boldItalic r:id="rId23"/>
    </p:embeddedFont>
    <p:embeddedFont>
      <p:font typeface="Space Grotesk" panose="020B0604020202020204" charset="0"/>
      <p:bold r:id="rId24"/>
    </p:embeddedFont>
    <p:embeddedFont>
      <p:font typeface="Space Grotesk SemiBold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c0324187_2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bc0324187_2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bc0324187_2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bc0324187_2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bc0324187_2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bc0324187_2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bc0324187_2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bc0324187_2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bc0324187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bc0324187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bc0324187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bc0324187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bc0324187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bc0324187_1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bc0324187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bc0324187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bc0324187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fbc0324187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bc0324187_14_0)">
  <p:cSld name="Generated (g3fbc0324187_14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4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8972700" cy="4972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14"/>
          <p:cNvCxnSpPr/>
          <p:nvPr/>
        </p:nvCxnSpPr>
        <p:spPr>
          <a:xfrm>
            <a:off x="381000" y="0"/>
            <a:ext cx="0" cy="51435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D1D1C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14"/>
          <p:cNvCxnSpPr/>
          <p:nvPr/>
        </p:nvCxnSpPr>
        <p:spPr>
          <a:xfrm>
            <a:off x="0" y="381000"/>
            <a:ext cx="9144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D1D1C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14"/>
          <p:cNvSpPr/>
          <p:nvPr/>
        </p:nvSpPr>
        <p:spPr>
          <a:xfrm>
            <a:off x="762000" y="1333500"/>
            <a:ext cx="7620000" cy="381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762000" y="1333500"/>
            <a:ext cx="1428900" cy="76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762000" y="1619250"/>
            <a:ext cx="76200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" sz="340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BESS Techno-Economic Framework for Kenya's C&amp;I Sector</a:t>
            </a:r>
            <a:endParaRPr sz="3400" b="1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762000" y="3190875"/>
            <a:ext cx="6477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" sz="1600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Optimizing Industrial Loads via Peak Shaving and Intelligent Energy Management</a:t>
            </a:r>
            <a:endParaRPr sz="1600" b="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3" name="Google Shape;63;p14"/>
          <p:cNvGrpSpPr/>
          <p:nvPr/>
        </p:nvGrpSpPr>
        <p:grpSpPr>
          <a:xfrm>
            <a:off x="762000" y="4286250"/>
            <a:ext cx="6477000" cy="381000"/>
            <a:chOff x="0" y="0"/>
            <a:chExt cx="6477000" cy="381000"/>
          </a:xfrm>
        </p:grpSpPr>
        <p:sp>
          <p:nvSpPr>
            <p:cNvPr id="64" name="Google Shape;64;p14"/>
            <p:cNvSpPr/>
            <p:nvPr/>
          </p:nvSpPr>
          <p:spPr>
            <a:xfrm>
              <a:off x="0" y="0"/>
              <a:ext cx="6477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0" y="0"/>
              <a:ext cx="647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1D355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Peter Mwiti &amp; Yuri Njathi</a:t>
              </a:r>
              <a:endParaRPr sz="1400" b="0">
                <a:solidFill>
                  <a:srgbClr val="1D355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66" name="Google Shape;66;p14" title="Screenshot 2026-09-21 1555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7273" y="166388"/>
            <a:ext cx="2334725" cy="7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IEK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1941" y="134683"/>
            <a:ext cx="1243641" cy="824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IEK 33r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3225" y="118247"/>
            <a:ext cx="1901072" cy="8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IEK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2949" y="118250"/>
            <a:ext cx="1621300" cy="1074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8972700" cy="497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15"/>
          <p:cNvGrpSpPr/>
          <p:nvPr/>
        </p:nvGrpSpPr>
        <p:grpSpPr>
          <a:xfrm>
            <a:off x="381000" y="285750"/>
            <a:ext cx="8382000" cy="38100"/>
            <a:chOff x="381000" y="285750"/>
            <a:chExt cx="8382000" cy="38100"/>
          </a:xfrm>
        </p:grpSpPr>
        <p:sp>
          <p:nvSpPr>
            <p:cNvPr id="76" name="Google Shape;76;p15"/>
            <p:cNvSpPr/>
            <p:nvPr/>
          </p:nvSpPr>
          <p:spPr>
            <a:xfrm>
              <a:off x="381000" y="285750"/>
              <a:ext cx="8382000" cy="192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381000" y="285750"/>
              <a:ext cx="1143000" cy="381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5"/>
          <p:cNvSpPr txBox="1"/>
          <p:nvPr/>
        </p:nvSpPr>
        <p:spPr>
          <a:xfrm>
            <a:off x="381000" y="428625"/>
            <a:ext cx="8382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Kenya C&amp;I Energy Landscape: Grid Vulnerabilities &amp; Tariff Drivers</a:t>
            </a:r>
            <a:endParaRPr sz="2100" b="1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79" name="Google Shape;79;p15"/>
          <p:cNvGrpSpPr/>
          <p:nvPr/>
        </p:nvGrpSpPr>
        <p:grpSpPr>
          <a:xfrm>
            <a:off x="381000" y="1095375"/>
            <a:ext cx="2628900" cy="3667200"/>
            <a:chOff x="0" y="0"/>
            <a:chExt cx="2628900" cy="3667200"/>
          </a:xfrm>
        </p:grpSpPr>
        <p:sp>
          <p:nvSpPr>
            <p:cNvPr id="80" name="Google Shape;80;p15"/>
            <p:cNvSpPr/>
            <p:nvPr/>
          </p:nvSpPr>
          <p:spPr>
            <a:xfrm>
              <a:off x="0" y="0"/>
              <a:ext cx="2628900" cy="3667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0" y="0"/>
              <a:ext cx="2628900" cy="381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190500" y="190500"/>
              <a:ext cx="2247900" cy="3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79" b="1">
                  <a:solidFill>
                    <a:srgbClr val="E63946"/>
                  </a:solidFill>
                  <a:latin typeface="Inter"/>
                  <a:ea typeface="Inter"/>
                  <a:cs typeface="Inter"/>
                  <a:sym typeface="Inter"/>
                </a:rPr>
                <a:t>TRANSMISSION &amp; GRID BOTTLENECKS</a:t>
              </a:r>
              <a:endParaRPr sz="879" b="1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Structural Unreliability</a:t>
              </a:r>
              <a:endParaRPr sz="1203" b="1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971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Transmission and distribution vulnerabilities create severe power quality risks for industrial operators .</a:t>
              </a:r>
              <a:endParaRPr sz="971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7338" algn="l" rtl="0">
                <a:spcBef>
                  <a:spcPts val="900"/>
                </a:spcBef>
                <a:spcAft>
                  <a:spcPts val="0"/>
                </a:spcAft>
                <a:buClr>
                  <a:srgbClr val="111111"/>
                </a:buClr>
                <a:buSzPts val="925"/>
                <a:buFont typeface="Inter"/>
                <a:buChar char="●"/>
              </a:pPr>
              <a:r>
                <a:rPr lang="en" sz="92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Cascade tripping at key grid hubs causes widespread blackouts e.g. Suswa node.</a:t>
              </a:r>
              <a:endParaRPr sz="92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7338" algn="l" rtl="0">
                <a:spcBef>
                  <a:spcPts val="750"/>
                </a:spcBef>
                <a:spcAft>
                  <a:spcPts val="0"/>
                </a:spcAft>
                <a:buClr>
                  <a:srgbClr val="111111"/>
                </a:buClr>
                <a:buSzPts val="925"/>
                <a:buFont typeface="Inter"/>
                <a:buChar char="●"/>
              </a:pPr>
              <a:r>
                <a:rPr lang="en" sz="92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Localized fires and overloaded transformers at substations affects manufacturing hubs.</a:t>
              </a:r>
              <a:endParaRPr sz="92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7338" algn="l" rtl="0">
                <a:spcBef>
                  <a:spcPts val="750"/>
                </a:spcBef>
                <a:spcAft>
                  <a:spcPts val="0"/>
                </a:spcAft>
                <a:buClr>
                  <a:srgbClr val="111111"/>
                </a:buClr>
                <a:buSzPts val="925"/>
                <a:buFont typeface="Inter"/>
                <a:buChar char="●"/>
              </a:pPr>
              <a:r>
                <a:rPr lang="en" sz="92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Voltage dips affect industries where stable power is a necessity for equipment longevity.</a:t>
              </a:r>
              <a:endParaRPr sz="92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3" name="Google Shape;83;p15"/>
          <p:cNvGrpSpPr/>
          <p:nvPr/>
        </p:nvGrpSpPr>
        <p:grpSpPr>
          <a:xfrm>
            <a:off x="3257550" y="1095375"/>
            <a:ext cx="2628900" cy="3667200"/>
            <a:chOff x="0" y="0"/>
            <a:chExt cx="2628900" cy="3667200"/>
          </a:xfrm>
        </p:grpSpPr>
        <p:sp>
          <p:nvSpPr>
            <p:cNvPr id="84" name="Google Shape;84;p15"/>
            <p:cNvSpPr/>
            <p:nvPr/>
          </p:nvSpPr>
          <p:spPr>
            <a:xfrm>
              <a:off x="0" y="0"/>
              <a:ext cx="2628900" cy="3667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0" y="0"/>
              <a:ext cx="2628900" cy="38100"/>
            </a:xfrm>
            <a:prstGeom prst="rect">
              <a:avLst/>
            </a:prstGeom>
            <a:solidFill>
              <a:srgbClr val="1D3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190500" y="190500"/>
              <a:ext cx="2247900" cy="3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rPr>
                <a:t>KPLC DEMAND CHARGES (BY TIER)</a:t>
              </a:r>
              <a:endParaRPr sz="950" b="1">
                <a:solidFill>
                  <a:srgbClr val="1D355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E6394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KES 1,100 </a:t>
              </a:r>
              <a:r>
                <a:rPr lang="en" sz="130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/ kVA</a:t>
              </a:r>
              <a:endParaRPr sz="2800" b="1">
                <a:solidFill>
                  <a:srgbClr val="E6394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Punitive monthly peak charges scale inversely with connection voltage :</a:t>
              </a:r>
              <a:endParaRPr sz="9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900"/>
                </a:spcBef>
                <a:spcAft>
                  <a:spcPts val="0"/>
                </a:spcAft>
                <a:buClr>
                  <a:srgbClr val="111111"/>
                </a:buClr>
                <a:buSzPts val="950"/>
                <a:buFont typeface="Inter"/>
                <a:buChar char="●"/>
              </a:pPr>
              <a:r>
                <a:rPr lang="en" sz="950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CI1 (Low Voltage 415V):</a:t>
              </a:r>
              <a:r>
                <a:rPr lang="en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KES 1,100 / kVA</a:t>
              </a:r>
              <a:endParaRPr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950"/>
                <a:buFont typeface="Inter"/>
                <a:buChar char="●"/>
              </a:pPr>
              <a:r>
                <a:rPr lang="en" sz="950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CI2 (Medium 11kV):</a:t>
              </a:r>
              <a:r>
                <a:rPr lang="en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KES 700 / kVA</a:t>
              </a:r>
              <a:endParaRPr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950"/>
                <a:buFont typeface="Inter"/>
                <a:buChar char="●"/>
              </a:pPr>
              <a:r>
                <a:rPr lang="en" sz="950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CI3 (Medium 33kV):</a:t>
              </a:r>
              <a:r>
                <a:rPr lang="en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KES 370 / kVA</a:t>
              </a:r>
              <a:endParaRPr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950"/>
                <a:buFont typeface="Inter"/>
                <a:buChar char="●"/>
              </a:pPr>
              <a:r>
                <a:rPr lang="en" sz="950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CI4/CI5 (High 66/132kV):</a:t>
              </a:r>
              <a:r>
                <a:rPr lang="en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KES 300 / kVA</a:t>
              </a:r>
              <a:endParaRPr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450"/>
                </a:spcBef>
                <a:spcAft>
                  <a:spcPts val="0"/>
                </a:spcAft>
                <a:buClr>
                  <a:srgbClr val="111111"/>
                </a:buClr>
                <a:buSzPts val="950"/>
                <a:buFont typeface="Inter"/>
                <a:buChar char="●"/>
              </a:pPr>
              <a:r>
                <a:rPr lang="en" sz="950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CI6 (Extra High 220kV):</a:t>
              </a:r>
              <a:r>
                <a:rPr lang="en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KES 200 / kVA</a:t>
              </a:r>
              <a:endParaRPr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6134100" y="1095375"/>
            <a:ext cx="2628900" cy="3667200"/>
            <a:chOff x="0" y="0"/>
            <a:chExt cx="2628900" cy="3667200"/>
          </a:xfrm>
        </p:grpSpPr>
        <p:sp>
          <p:nvSpPr>
            <p:cNvPr id="88" name="Google Shape;88;p15"/>
            <p:cNvSpPr/>
            <p:nvPr/>
          </p:nvSpPr>
          <p:spPr>
            <a:xfrm>
              <a:off x="0" y="0"/>
              <a:ext cx="2628900" cy="3667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0" y="0"/>
              <a:ext cx="2628900" cy="381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 txBox="1"/>
            <p:nvPr/>
          </p:nvSpPr>
          <p:spPr>
            <a:xfrm>
              <a:off x="190500" y="190500"/>
              <a:ext cx="2247900" cy="3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E63946"/>
                  </a:solidFill>
                  <a:latin typeface="Inter"/>
                  <a:ea typeface="Inter"/>
                  <a:cs typeface="Inter"/>
                  <a:sym typeface="Inter"/>
                </a:rPr>
                <a:t>VARIABLE SURCHARGES &amp; TAXES</a:t>
              </a:r>
              <a:endParaRPr sz="950" b="1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+60% </a:t>
              </a:r>
              <a:r>
                <a:rPr lang="en" sz="130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Effective Markup</a:t>
              </a:r>
              <a:endParaRPr sz="280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Pass-through costs inflate base tariffs (e.g. KES 13.74/kWh for CI1) substantially </a:t>
              </a:r>
              <a:endParaRPr sz="9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900"/>
                </a:spcBef>
                <a:spcAft>
                  <a:spcPts val="0"/>
                </a:spcAft>
                <a:buClr>
                  <a:srgbClr val="111111"/>
                </a:buClr>
                <a:buSzPts val="950"/>
                <a:buFont typeface="Inter"/>
                <a:buChar char="●"/>
              </a:pPr>
              <a:r>
                <a:rPr lang="en" sz="950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Fuel Cost Charge:</a:t>
              </a:r>
              <a:r>
                <a:rPr lang="en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~KES 3.14 / kWh</a:t>
              </a:r>
              <a:endParaRPr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600"/>
                </a:spcBef>
                <a:spcAft>
                  <a:spcPts val="0"/>
                </a:spcAft>
                <a:buClr>
                  <a:srgbClr val="111111"/>
                </a:buClr>
                <a:buSzPts val="950"/>
                <a:buFont typeface="Inter"/>
                <a:buChar char="●"/>
              </a:pPr>
              <a:r>
                <a:rPr lang="en" sz="950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Forex Adjustment:</a:t>
              </a:r>
              <a:r>
                <a:rPr lang="en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~KES 0.72 / kWh</a:t>
              </a:r>
              <a:endParaRPr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600"/>
                </a:spcBef>
                <a:spcAft>
                  <a:spcPts val="0"/>
                </a:spcAft>
                <a:buClr>
                  <a:srgbClr val="111111"/>
                </a:buClr>
                <a:buSzPts val="950"/>
                <a:buFont typeface="Inter"/>
                <a:buChar char="●"/>
              </a:pPr>
              <a:r>
                <a:rPr lang="en" sz="950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Taxes &amp; Levies:</a:t>
              </a:r>
              <a:r>
                <a:rPr lang="en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16% VAT + Water Resource Management levies .</a:t>
              </a:r>
              <a:endParaRPr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88925" algn="l" rtl="0">
                <a:spcBef>
                  <a:spcPts val="600"/>
                </a:spcBef>
                <a:spcAft>
                  <a:spcPts val="0"/>
                </a:spcAft>
                <a:buClr>
                  <a:srgbClr val="111111"/>
                </a:buClr>
                <a:buSzPts val="950"/>
                <a:buFont typeface="Inter"/>
                <a:buChar char="●"/>
              </a:pPr>
              <a:r>
                <a:rPr lang="en" sz="950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Power Factor Penalty:</a:t>
              </a:r>
              <a:r>
                <a:rPr lang="en" sz="9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2% surcharge per 1% drop below 0.9 PF .</a:t>
              </a:r>
              <a:endParaRPr sz="9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" name="Google Shape;98;p16"/>
          <p:cNvGrpSpPr/>
          <p:nvPr/>
        </p:nvGrpSpPr>
        <p:grpSpPr>
          <a:xfrm>
            <a:off x="381000" y="285750"/>
            <a:ext cx="8382000" cy="38100"/>
            <a:chOff x="381000" y="285750"/>
            <a:chExt cx="8382000" cy="38100"/>
          </a:xfrm>
        </p:grpSpPr>
        <p:sp>
          <p:nvSpPr>
            <p:cNvPr id="99" name="Google Shape;99;p16"/>
            <p:cNvSpPr/>
            <p:nvPr/>
          </p:nvSpPr>
          <p:spPr>
            <a:xfrm>
              <a:off x="381000" y="285750"/>
              <a:ext cx="8382000" cy="192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381000" y="285750"/>
              <a:ext cx="1143000" cy="381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16"/>
          <p:cNvSpPr txBox="1"/>
          <p:nvPr/>
        </p:nvSpPr>
        <p:spPr>
          <a:xfrm>
            <a:off x="381000" y="428625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40" b="1" dirty="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Industrial Load Typologies: Spiky vs. Flat-Lined Consumption</a:t>
            </a:r>
            <a:endParaRPr sz="2240" b="1" dirty="0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02" name="Google Shape;102;p16"/>
          <p:cNvGrpSpPr/>
          <p:nvPr/>
        </p:nvGrpSpPr>
        <p:grpSpPr>
          <a:xfrm>
            <a:off x="380999" y="1162349"/>
            <a:ext cx="4191001" cy="3552525"/>
            <a:chOff x="0" y="0"/>
            <a:chExt cx="4000500" cy="3448050"/>
          </a:xfrm>
        </p:grpSpPr>
        <p:grpSp>
          <p:nvGrpSpPr>
            <p:cNvPr id="103" name="Google Shape;103;p16"/>
            <p:cNvGrpSpPr/>
            <p:nvPr/>
          </p:nvGrpSpPr>
          <p:grpSpPr>
            <a:xfrm>
              <a:off x="0" y="0"/>
              <a:ext cx="4000500" cy="1238400"/>
              <a:chOff x="0" y="0"/>
              <a:chExt cx="4000500" cy="1238400"/>
            </a:xfrm>
          </p:grpSpPr>
          <p:sp>
            <p:nvSpPr>
              <p:cNvPr id="104" name="Google Shape;104;p16"/>
              <p:cNvSpPr/>
              <p:nvPr/>
            </p:nvSpPr>
            <p:spPr>
              <a:xfrm>
                <a:off x="0" y="0"/>
                <a:ext cx="4000500" cy="19200"/>
              </a:xfrm>
              <a:prstGeom prst="rect">
                <a:avLst/>
              </a:prstGeom>
              <a:solidFill>
                <a:srgbClr val="E6394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6"/>
              <p:cNvSpPr txBox="1"/>
              <p:nvPr/>
            </p:nvSpPr>
            <p:spPr>
              <a:xfrm>
                <a:off x="0" y="95250"/>
                <a:ext cx="4000500" cy="247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30" b="0">
                    <a:solidFill>
                      <a:srgbClr val="E6394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Spiky Loads</a:t>
                </a:r>
                <a:endParaRPr sz="1530" b="0">
                  <a:solidFill>
                    <a:srgbClr val="E6394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06" name="Google Shape;106;p16"/>
              <p:cNvSpPr txBox="1"/>
              <p:nvPr/>
            </p:nvSpPr>
            <p:spPr>
              <a:xfrm>
                <a:off x="0" y="381000"/>
                <a:ext cx="4000500" cy="857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18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Sudden, massive power surges lasting 15 to 45 minutes before returning to a lower baseline.</a:t>
                </a:r>
                <a:endParaRPr sz="1018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018" b="0">
                    <a:solidFill>
                      <a:srgbClr val="11111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Manufacturing Impact:</a:t>
                </a:r>
                <a:r>
                  <a:rPr lang="en" sz="1018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 Common in plastics extrusion during intense equipment heating phases and heavy metal fabrication.</a:t>
                </a:r>
                <a:endParaRPr sz="1018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7" name="Google Shape;107;p16"/>
            <p:cNvGrpSpPr/>
            <p:nvPr/>
          </p:nvGrpSpPr>
          <p:grpSpPr>
            <a:xfrm>
              <a:off x="0" y="1333500"/>
              <a:ext cx="4000500" cy="762000"/>
              <a:chOff x="0" y="-333375"/>
              <a:chExt cx="4000500" cy="762000"/>
            </a:xfrm>
          </p:grpSpPr>
          <p:sp>
            <p:nvSpPr>
              <p:cNvPr id="108" name="Google Shape;108;p16"/>
              <p:cNvSpPr/>
              <p:nvPr/>
            </p:nvSpPr>
            <p:spPr>
              <a:xfrm>
                <a:off x="0" y="-333375"/>
                <a:ext cx="4000500" cy="7620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D1D1C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6"/>
              <p:cNvSpPr/>
              <p:nvPr/>
            </p:nvSpPr>
            <p:spPr>
              <a:xfrm>
                <a:off x="0" y="-333375"/>
                <a:ext cx="38100" cy="762000"/>
              </a:xfrm>
              <a:prstGeom prst="rect">
                <a:avLst/>
              </a:prstGeom>
              <a:solidFill>
                <a:srgbClr val="E6394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6"/>
              <p:cNvSpPr txBox="1"/>
              <p:nvPr/>
            </p:nvSpPr>
            <p:spPr>
              <a:xfrm>
                <a:off x="152400" y="-257175"/>
                <a:ext cx="36957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E63946"/>
                    </a:solidFill>
                    <a:latin typeface="Inter"/>
                    <a:ea typeface="Inter"/>
                    <a:cs typeface="Inter"/>
                    <a:sym typeface="Inter"/>
                  </a:rPr>
                  <a:t>Financial Penalty</a:t>
                </a:r>
                <a:endParaRPr sz="1000" b="1">
                  <a:solidFill>
                    <a:srgbClr val="E6394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" name="Google Shape;111;p16"/>
              <p:cNvSpPr txBox="1"/>
              <p:nvPr/>
            </p:nvSpPr>
            <p:spPr>
              <a:xfrm>
                <a:off x="152400" y="-47625"/>
                <a:ext cx="36957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These short-duration surges trigger exorbitant utility maximum demand charges based on a single peak.</a:t>
                </a:r>
                <a:endParaRPr sz="110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2" name="Google Shape;112;p16"/>
            <p:cNvGrpSpPr/>
            <p:nvPr/>
          </p:nvGrpSpPr>
          <p:grpSpPr>
            <a:xfrm>
              <a:off x="0" y="2286000"/>
              <a:ext cx="4000500" cy="1162050"/>
              <a:chOff x="0" y="-666750"/>
              <a:chExt cx="4000500" cy="1162050"/>
            </a:xfrm>
          </p:grpSpPr>
          <p:sp>
            <p:nvSpPr>
              <p:cNvPr id="113" name="Google Shape;113;p16"/>
              <p:cNvSpPr/>
              <p:nvPr/>
            </p:nvSpPr>
            <p:spPr>
              <a:xfrm>
                <a:off x="0" y="-666750"/>
                <a:ext cx="4000500" cy="19200"/>
              </a:xfrm>
              <a:prstGeom prst="rect">
                <a:avLst/>
              </a:prstGeom>
              <a:solidFill>
                <a:srgbClr val="1D3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6"/>
              <p:cNvSpPr txBox="1"/>
              <p:nvPr/>
            </p:nvSpPr>
            <p:spPr>
              <a:xfrm>
                <a:off x="0" y="-571500"/>
                <a:ext cx="4000500" cy="247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30" b="0">
                    <a:solidFill>
                      <a:srgbClr val="1D355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Flat-Lined Loads</a:t>
                </a:r>
                <a:endParaRPr sz="1530" b="0">
                  <a:solidFill>
                    <a:srgbClr val="1D355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15" name="Google Shape;115;p16"/>
              <p:cNvSpPr txBox="1"/>
              <p:nvPr/>
            </p:nvSpPr>
            <p:spPr>
              <a:xfrm>
                <a:off x="0" y="-266700"/>
                <a:ext cx="4000500" cy="762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18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Predictable, stable baseline consumption allowing for optimal utility rate structures and minimal demand charge penalties.</a:t>
                </a:r>
                <a:endParaRPr sz="1018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018" b="0">
                    <a:solidFill>
                      <a:srgbClr val="11111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Typical Applications:</a:t>
                </a:r>
                <a:r>
                  <a:rPr lang="en" sz="1018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 Common in water utilities, agri-logistics, and continuous process facilities.</a:t>
                </a:r>
                <a:endParaRPr sz="1018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116" name="Google Shape;116;p16" title="Image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1500" y="1340327"/>
            <a:ext cx="4091500" cy="311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22" name="Google Shape;122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17"/>
          <p:cNvGrpSpPr/>
          <p:nvPr/>
        </p:nvGrpSpPr>
        <p:grpSpPr>
          <a:xfrm>
            <a:off x="381000" y="285750"/>
            <a:ext cx="8382000" cy="38100"/>
            <a:chOff x="381000" y="285750"/>
            <a:chExt cx="8382000" cy="38100"/>
          </a:xfrm>
        </p:grpSpPr>
        <p:sp>
          <p:nvSpPr>
            <p:cNvPr id="125" name="Google Shape;125;p17"/>
            <p:cNvSpPr/>
            <p:nvPr/>
          </p:nvSpPr>
          <p:spPr>
            <a:xfrm>
              <a:off x="381000" y="285750"/>
              <a:ext cx="8382000" cy="192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381000" y="285750"/>
              <a:ext cx="1143000" cy="381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" name="Google Shape;127;p17"/>
          <p:cNvSpPr txBox="1"/>
          <p:nvPr/>
        </p:nvSpPr>
        <p:spPr>
          <a:xfrm>
            <a:off x="381000" y="428625"/>
            <a:ext cx="8382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4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EPRA Tariff Architectures &amp; Incremental TOU (ITOU) Logic</a:t>
            </a:r>
            <a:endParaRPr sz="2240" b="1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381000" y="1095375"/>
            <a:ext cx="4000500" cy="352440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9525" cap="flat" cmpd="sng">
            <a:solidFill>
              <a:srgbClr val="D1D1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3">
            <a:alphaModFix/>
          </a:blip>
          <a:srcRect t="40" b="30"/>
          <a:stretch/>
        </p:blipFill>
        <p:spPr>
          <a:xfrm>
            <a:off x="476250" y="1238250"/>
            <a:ext cx="3810000" cy="2952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7"/>
          <p:cNvGrpSpPr/>
          <p:nvPr/>
        </p:nvGrpSpPr>
        <p:grpSpPr>
          <a:xfrm>
            <a:off x="4572000" y="1095375"/>
            <a:ext cx="4191000" cy="3524250"/>
            <a:chOff x="0" y="0"/>
            <a:chExt cx="4191000" cy="3524250"/>
          </a:xfrm>
        </p:grpSpPr>
        <p:grpSp>
          <p:nvGrpSpPr>
            <p:cNvPr id="131" name="Google Shape;131;p17"/>
            <p:cNvGrpSpPr/>
            <p:nvPr/>
          </p:nvGrpSpPr>
          <p:grpSpPr>
            <a:xfrm>
              <a:off x="0" y="0"/>
              <a:ext cx="4191000" cy="285900"/>
              <a:chOff x="0" y="0"/>
              <a:chExt cx="4191000" cy="285900"/>
            </a:xfrm>
          </p:grpSpPr>
          <p:sp>
            <p:nvSpPr>
              <p:cNvPr id="132" name="Google Shape;132;p17"/>
              <p:cNvSpPr txBox="1"/>
              <p:nvPr/>
            </p:nvSpPr>
            <p:spPr>
              <a:xfrm>
                <a:off x="0" y="0"/>
                <a:ext cx="41910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1D3557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INCREMENTAL TOU (ITOU) FRAMEWORK</a:t>
                </a:r>
                <a:endParaRPr sz="1300" b="1">
                  <a:solidFill>
                    <a:srgbClr val="1D3557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133" name="Google Shape;133;p17"/>
              <p:cNvSpPr/>
              <p:nvPr/>
            </p:nvSpPr>
            <p:spPr>
              <a:xfrm>
                <a:off x="0" y="266700"/>
                <a:ext cx="4191000" cy="19200"/>
              </a:xfrm>
              <a:prstGeom prst="rect">
                <a:avLst/>
              </a:prstGeom>
              <a:solidFill>
                <a:srgbClr val="1D3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" name="Google Shape;134;p17"/>
            <p:cNvGrpSpPr/>
            <p:nvPr/>
          </p:nvGrpSpPr>
          <p:grpSpPr>
            <a:xfrm>
              <a:off x="0" y="400050"/>
              <a:ext cx="4191000" cy="1428900"/>
              <a:chOff x="0" y="0"/>
              <a:chExt cx="4191000" cy="1428900"/>
            </a:xfrm>
          </p:grpSpPr>
          <p:sp>
            <p:nvSpPr>
              <p:cNvPr id="135" name="Google Shape;135;p17"/>
              <p:cNvSpPr/>
              <p:nvPr/>
            </p:nvSpPr>
            <p:spPr>
              <a:xfrm>
                <a:off x="0" y="0"/>
                <a:ext cx="4191000" cy="1428900"/>
              </a:xfrm>
              <a:prstGeom prst="roundRect">
                <a:avLst>
                  <a:gd name="adj" fmla="val 2666"/>
                </a:avLst>
              </a:prstGeom>
              <a:solidFill>
                <a:srgbClr val="FFFFFF"/>
              </a:solidFill>
              <a:ln w="9525" cap="flat" cmpd="sng">
                <a:solidFill>
                  <a:srgbClr val="D1D1C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17"/>
              <p:cNvSpPr/>
              <p:nvPr/>
            </p:nvSpPr>
            <p:spPr>
              <a:xfrm>
                <a:off x="0" y="0"/>
                <a:ext cx="38100" cy="1428900"/>
              </a:xfrm>
              <a:prstGeom prst="rect">
                <a:avLst/>
              </a:prstGeom>
              <a:solidFill>
                <a:srgbClr val="E6394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7"/>
              <p:cNvSpPr txBox="1"/>
              <p:nvPr/>
            </p:nvSpPr>
            <p:spPr>
              <a:xfrm>
                <a:off x="190500" y="142875"/>
                <a:ext cx="3810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E63946"/>
                    </a:solidFill>
                    <a:latin typeface="Inter"/>
                    <a:ea typeface="Inter"/>
                    <a:cs typeface="Inter"/>
                    <a:sym typeface="Inter"/>
                  </a:rPr>
                  <a:t>ITOU DISCOUNT</a:t>
                </a:r>
                <a:endParaRPr sz="950" b="1">
                  <a:solidFill>
                    <a:srgbClr val="E6394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2200" b="1">
                    <a:solidFill>
                      <a:srgbClr val="E6394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50% </a:t>
                </a:r>
                <a:r>
                  <a:rPr lang="en" sz="1400" b="1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Off-Peak Energy Rate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50% discount on the base energy rate during off-peak hours .</a:t>
                </a:r>
                <a:endParaRPr sz="110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8" name="Google Shape;138;p17"/>
            <p:cNvGrpSpPr/>
            <p:nvPr/>
          </p:nvGrpSpPr>
          <p:grpSpPr>
            <a:xfrm>
              <a:off x="0" y="2000250"/>
              <a:ext cx="4191000" cy="1524000"/>
              <a:chOff x="0" y="0"/>
              <a:chExt cx="4191000" cy="1524000"/>
            </a:xfrm>
          </p:grpSpPr>
          <p:sp>
            <p:nvSpPr>
              <p:cNvPr id="139" name="Google Shape;139;p17"/>
              <p:cNvSpPr/>
              <p:nvPr/>
            </p:nvSpPr>
            <p:spPr>
              <a:xfrm>
                <a:off x="0" y="0"/>
                <a:ext cx="4191000" cy="1524000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 cap="flat" cmpd="sng">
                <a:solidFill>
                  <a:srgbClr val="D1D1C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7"/>
              <p:cNvSpPr/>
              <p:nvPr/>
            </p:nvSpPr>
            <p:spPr>
              <a:xfrm>
                <a:off x="0" y="0"/>
                <a:ext cx="38100" cy="1524000"/>
              </a:xfrm>
              <a:prstGeom prst="rect">
                <a:avLst/>
              </a:prstGeom>
              <a:solidFill>
                <a:srgbClr val="1D3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17"/>
              <p:cNvSpPr txBox="1"/>
              <p:nvPr/>
            </p:nvSpPr>
            <p:spPr>
              <a:xfrm>
                <a:off x="190500" y="142875"/>
                <a:ext cx="3810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1D3557"/>
                    </a:solidFill>
                    <a:latin typeface="Inter"/>
                    <a:ea typeface="Inter"/>
                    <a:cs typeface="Inter"/>
                    <a:sym typeface="Inter"/>
                  </a:rPr>
                  <a:t>BASELINE RESTRICTION</a:t>
                </a:r>
                <a:endParaRPr sz="950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1400" b="1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Historical Consumption Threshold</a:t>
                </a:r>
                <a:endParaRPr sz="1400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The off-peak discount strictly applies only to energy consumed above a facility-specific historical baseline .</a:t>
                </a:r>
                <a:endParaRPr sz="110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47" name="Google Shape;147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8" name="Google Shape;148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25" y="9525"/>
              <a:ext cx="8972700" cy="4972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" name="Google Shape;149;p18"/>
          <p:cNvGrpSpPr/>
          <p:nvPr/>
        </p:nvGrpSpPr>
        <p:grpSpPr>
          <a:xfrm>
            <a:off x="381000" y="285750"/>
            <a:ext cx="8382000" cy="38100"/>
            <a:chOff x="381000" y="285750"/>
            <a:chExt cx="8382000" cy="38100"/>
          </a:xfrm>
        </p:grpSpPr>
        <p:sp>
          <p:nvSpPr>
            <p:cNvPr id="150" name="Google Shape;150;p18"/>
            <p:cNvSpPr/>
            <p:nvPr/>
          </p:nvSpPr>
          <p:spPr>
            <a:xfrm>
              <a:off x="381000" y="285750"/>
              <a:ext cx="8382000" cy="192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381000" y="285750"/>
              <a:ext cx="1143000" cy="381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" name="Google Shape;152;p18"/>
          <p:cNvSpPr txBox="1"/>
          <p:nvPr/>
        </p:nvSpPr>
        <p:spPr>
          <a:xfrm>
            <a:off x="381000" y="457200"/>
            <a:ext cx="83820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5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Techno-Economic Evaluation Architecture</a:t>
            </a:r>
            <a:endParaRPr sz="2405" b="1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2035" b="1">
                <a:solidFill>
                  <a:srgbClr val="1D3557"/>
                </a:solidFill>
                <a:latin typeface="Space Grotesk"/>
                <a:ea typeface="Space Grotesk"/>
                <a:cs typeface="Space Grotesk"/>
                <a:sym typeface="Space Grotesk"/>
              </a:rPr>
              <a:t>&amp; Algorithmic Pipeline</a:t>
            </a:r>
            <a:endParaRPr sz="2035" b="1">
              <a:solidFill>
                <a:srgbClr val="1D3557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53" name="Google Shape;153;p18"/>
          <p:cNvGrpSpPr/>
          <p:nvPr/>
        </p:nvGrpSpPr>
        <p:grpSpPr>
          <a:xfrm>
            <a:off x="381000" y="1476375"/>
            <a:ext cx="1905000" cy="3143400"/>
            <a:chOff x="0" y="0"/>
            <a:chExt cx="1905000" cy="3143400"/>
          </a:xfrm>
        </p:grpSpPr>
        <p:sp>
          <p:nvSpPr>
            <p:cNvPr id="154" name="Google Shape;154;p18"/>
            <p:cNvSpPr/>
            <p:nvPr/>
          </p:nvSpPr>
          <p:spPr>
            <a:xfrm>
              <a:off x="0" y="0"/>
              <a:ext cx="1905000" cy="3143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0" y="0"/>
              <a:ext cx="1905000" cy="38100"/>
            </a:xfrm>
            <a:prstGeom prst="rect">
              <a:avLst/>
            </a:prstGeom>
            <a:solidFill>
              <a:srgbClr val="1D3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  <a:solidFill>
              <a:srgbClr val="1D3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sz="13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571500" y="133350"/>
              <a:ext cx="1181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rPr>
                <a:t>PYTHON ENGINE</a:t>
              </a:r>
              <a:endParaRPr sz="850" b="1">
                <a:solidFill>
                  <a:srgbClr val="1D35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59" name="Google Shape;159;p18"/>
            <p:cNvCxnSpPr/>
            <p:nvPr/>
          </p:nvCxnSpPr>
          <p:spPr>
            <a:xfrm>
              <a:off x="152400" y="590550"/>
              <a:ext cx="16002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F4F4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0" name="Google Shape;160;p18"/>
            <p:cNvSpPr txBox="1"/>
            <p:nvPr/>
          </p:nvSpPr>
          <p:spPr>
            <a:xfrm>
              <a:off x="152400" y="704850"/>
              <a:ext cx="16002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Parametric Core</a:t>
              </a:r>
              <a:endParaRPr sz="1200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Object-oriented </a:t>
              </a:r>
              <a:r>
                <a:rPr lang="en" sz="1000" b="0">
                  <a:solidFill>
                    <a:srgbClr val="1D3557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bess_feasibility.py</a:t>
              </a:r>
              <a:r>
                <a:rPr lang="en" sz="100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 algorithm.</a:t>
              </a:r>
              <a:endParaRPr sz="1000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10-year discounted cash flow modeling framework.</a:t>
              </a:r>
              <a:endParaRPr sz="1000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Simulates battery capacity fade and degradation curves.</a:t>
              </a:r>
              <a:endParaRPr sz="1000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1" name="Google Shape;161;p18"/>
          <p:cNvGrpSpPr/>
          <p:nvPr/>
        </p:nvGrpSpPr>
        <p:grpSpPr>
          <a:xfrm>
            <a:off x="2476500" y="1476375"/>
            <a:ext cx="1905000" cy="3143400"/>
            <a:chOff x="0" y="0"/>
            <a:chExt cx="1905000" cy="3143400"/>
          </a:xfrm>
        </p:grpSpPr>
        <p:sp>
          <p:nvSpPr>
            <p:cNvPr id="162" name="Google Shape;162;p18"/>
            <p:cNvSpPr/>
            <p:nvPr/>
          </p:nvSpPr>
          <p:spPr>
            <a:xfrm>
              <a:off x="0" y="0"/>
              <a:ext cx="1905000" cy="3143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0" y="0"/>
              <a:ext cx="1905000" cy="381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sz="13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571500" y="133350"/>
              <a:ext cx="1181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E63946"/>
                  </a:solidFill>
                  <a:latin typeface="Inter"/>
                  <a:ea typeface="Inter"/>
                  <a:cs typeface="Inter"/>
                  <a:sym typeface="Inter"/>
                </a:rPr>
                <a:t>FINANCIAL BASELINE</a:t>
              </a:r>
              <a:endParaRPr sz="850" b="1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67" name="Google Shape;167;p18"/>
            <p:cNvCxnSpPr/>
            <p:nvPr/>
          </p:nvCxnSpPr>
          <p:spPr>
            <a:xfrm>
              <a:off x="152400" y="590550"/>
              <a:ext cx="16002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F4F4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8" name="Google Shape;168;p18"/>
            <p:cNvSpPr txBox="1"/>
            <p:nvPr/>
          </p:nvSpPr>
          <p:spPr>
            <a:xfrm>
              <a:off x="152400" y="704850"/>
              <a:ext cx="16002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Assumptions</a:t>
              </a:r>
              <a:endParaRPr sz="1200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8% Discount Rate:</a:t>
              </a:r>
              <a:r>
                <a:rPr lang="en" sz="95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 Regional commercial debt baseline.</a:t>
              </a:r>
              <a:endParaRPr sz="950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$300/kWh CAPEX:</a:t>
              </a:r>
              <a:r>
                <a:rPr lang="en" sz="95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 Turnkey BESS installation cost.</a:t>
              </a:r>
              <a:endParaRPr sz="950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$0.1881/kWh LCOS:</a:t>
              </a:r>
              <a:r>
                <a:rPr lang="en" sz="95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 Benchmark storage cost levelized.</a:t>
              </a:r>
              <a:endParaRPr sz="950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9" name="Google Shape;169;p18"/>
          <p:cNvGrpSpPr/>
          <p:nvPr/>
        </p:nvGrpSpPr>
        <p:grpSpPr>
          <a:xfrm>
            <a:off x="4572000" y="1476375"/>
            <a:ext cx="1905000" cy="3143400"/>
            <a:chOff x="0" y="0"/>
            <a:chExt cx="1905000" cy="3143400"/>
          </a:xfrm>
        </p:grpSpPr>
        <p:sp>
          <p:nvSpPr>
            <p:cNvPr id="170" name="Google Shape;170;p18"/>
            <p:cNvSpPr/>
            <p:nvPr/>
          </p:nvSpPr>
          <p:spPr>
            <a:xfrm>
              <a:off x="0" y="0"/>
              <a:ext cx="1905000" cy="3143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0" y="0"/>
              <a:ext cx="1905000" cy="38100"/>
            </a:xfrm>
            <a:prstGeom prst="rect">
              <a:avLst/>
            </a:prstGeom>
            <a:solidFill>
              <a:srgbClr val="1D3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  <a:solidFill>
              <a:srgbClr val="1D3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8"/>
            <p:cNvSpPr txBox="1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sz="13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571500" y="133350"/>
              <a:ext cx="1181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rPr>
                <a:t>BESS APPLICATIONS</a:t>
              </a:r>
              <a:endParaRPr sz="850" b="1">
                <a:solidFill>
                  <a:srgbClr val="1D35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75" name="Google Shape;175;p18"/>
            <p:cNvCxnSpPr/>
            <p:nvPr/>
          </p:nvCxnSpPr>
          <p:spPr>
            <a:xfrm>
              <a:off x="152400" y="590550"/>
              <a:ext cx="16002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F4F4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6" name="Google Shape;176;p18"/>
            <p:cNvSpPr txBox="1"/>
            <p:nvPr/>
          </p:nvSpPr>
          <p:spPr>
            <a:xfrm>
              <a:off x="152400" y="704850"/>
              <a:ext cx="16002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 Value Streams</a:t>
              </a:r>
              <a:endParaRPr sz="1200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rPr>
                <a:t>Peak Shaving:</a:t>
              </a:r>
              <a:r>
                <a:rPr lang="en" sz="90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 Clips 15-45m kVA demand spikes.</a:t>
              </a:r>
              <a:endParaRPr sz="900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rPr>
                <a:t>TOU Arbitrage:</a:t>
              </a:r>
              <a:r>
                <a:rPr lang="en" sz="90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 Shifts load across temporal bands.</a:t>
              </a:r>
              <a:endParaRPr sz="900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rPr>
                <a:t>Diesel Offset:</a:t>
              </a:r>
              <a:r>
                <a:rPr lang="en" sz="90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 Hybrid Solar+BESS fuel replacement.</a:t>
              </a:r>
              <a:endParaRPr sz="900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rPr>
                <a:t>Industrial UPS:</a:t>
              </a:r>
              <a:r>
                <a:rPr lang="en" sz="90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 Sub-cycle outage protection.</a:t>
              </a:r>
              <a:endParaRPr sz="900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7" name="Google Shape;177;p18"/>
          <p:cNvGrpSpPr/>
          <p:nvPr/>
        </p:nvGrpSpPr>
        <p:grpSpPr>
          <a:xfrm>
            <a:off x="6667500" y="1476375"/>
            <a:ext cx="1905000" cy="3143400"/>
            <a:chOff x="0" y="0"/>
            <a:chExt cx="1905000" cy="3143400"/>
          </a:xfrm>
        </p:grpSpPr>
        <p:sp>
          <p:nvSpPr>
            <p:cNvPr id="178" name="Google Shape;178;p18"/>
            <p:cNvSpPr/>
            <p:nvPr/>
          </p:nvSpPr>
          <p:spPr>
            <a:xfrm>
              <a:off x="0" y="0"/>
              <a:ext cx="1905000" cy="3143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0" y="0"/>
              <a:ext cx="1905000" cy="381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152400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 sz="13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2" name="Google Shape;182;p18"/>
            <p:cNvSpPr txBox="1"/>
            <p:nvPr/>
          </p:nvSpPr>
          <p:spPr>
            <a:xfrm>
              <a:off x="571500" y="133350"/>
              <a:ext cx="1181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E63946"/>
                  </a:solidFill>
                  <a:latin typeface="Inter"/>
                  <a:ea typeface="Inter"/>
                  <a:cs typeface="Inter"/>
                  <a:sym typeface="Inter"/>
                </a:rPr>
                <a:t>SYNTHESIS &amp; SIZING</a:t>
              </a:r>
              <a:endParaRPr sz="850" b="1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83" name="Google Shape;183;p18"/>
            <p:cNvCxnSpPr/>
            <p:nvPr/>
          </p:nvCxnSpPr>
          <p:spPr>
            <a:xfrm>
              <a:off x="152400" y="590550"/>
              <a:ext cx="16002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F4F4F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4" name="Google Shape;184;p18"/>
            <p:cNvSpPr txBox="1"/>
            <p:nvPr/>
          </p:nvSpPr>
          <p:spPr>
            <a:xfrm>
              <a:off x="152400" y="704850"/>
              <a:ext cx="16002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Multi-Factor Model</a:t>
              </a:r>
              <a:endParaRPr sz="1200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Synthesizes EPRA tariffs &amp; grid SAIDI/SAIFI indices.</a:t>
              </a:r>
              <a:endParaRPr sz="950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Envelope sizing </a:t>
              </a:r>
              <a:r>
                <a:rPr lang="en" sz="950" b="0">
                  <a:solidFill>
                    <a:srgbClr val="E63946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max(kWh)</a:t>
              </a:r>
              <a:r>
                <a:rPr lang="en" sz="95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 prevents double counting.</a:t>
              </a:r>
              <a:endParaRPr sz="950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Evaluates transformer thermal relief &amp; 10-yr NPV.</a:t>
              </a:r>
              <a:endParaRPr sz="950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90" name="Google Shape;190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19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381000" y="476250"/>
            <a:ext cx="381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381000" y="666750"/>
            <a:ext cx="2286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Case Study</a:t>
            </a:r>
            <a:endParaRPr sz="280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2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Setup</a:t>
            </a:r>
            <a:endParaRPr sz="280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381000" y="2000250"/>
            <a:ext cx="2377500" cy="26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" sz="1600" b="1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rPr>
              <a:t>airobi Plastics Extrusion Plant</a:t>
            </a:r>
            <a:endParaRPr sz="1600" b="1">
              <a:solidFill>
                <a:srgbClr val="E6394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None/>
            </a:pPr>
            <a:endParaRPr sz="1600" b="1">
              <a:solidFill>
                <a:srgbClr val="E6394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450"/>
              </a:spcBef>
              <a:spcAft>
                <a:spcPts val="1200"/>
              </a:spcAft>
              <a:buNone/>
            </a:pPr>
            <a:r>
              <a:rPr lang="en" sz="1300" b="0">
                <a:solidFill>
                  <a:srgbClr val="D1D1C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Tier: CI1</a:t>
            </a:r>
            <a:endParaRPr sz="1200" b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6" name="Google Shape;196;p19"/>
          <p:cNvGrpSpPr/>
          <p:nvPr/>
        </p:nvGrpSpPr>
        <p:grpSpPr>
          <a:xfrm>
            <a:off x="3429000" y="476250"/>
            <a:ext cx="2381400" cy="1333500"/>
            <a:chOff x="0" y="0"/>
            <a:chExt cx="2381400" cy="1333500"/>
          </a:xfrm>
        </p:grpSpPr>
        <p:sp>
          <p:nvSpPr>
            <p:cNvPr id="197" name="Google Shape;197;p19"/>
            <p:cNvSpPr/>
            <p:nvPr/>
          </p:nvSpPr>
          <p:spPr>
            <a:xfrm>
              <a:off x="0" y="0"/>
              <a:ext cx="2381400" cy="1333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0" y="0"/>
              <a:ext cx="2381400" cy="28500"/>
            </a:xfrm>
            <a:prstGeom prst="rect">
              <a:avLst/>
            </a:prstGeom>
            <a:solidFill>
              <a:srgbClr val="1D3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9"/>
            <p:cNvSpPr txBox="1"/>
            <p:nvPr/>
          </p:nvSpPr>
          <p:spPr>
            <a:xfrm>
              <a:off x="190500" y="152400"/>
              <a:ext cx="2000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" sz="1000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rPr>
                <a:t>LOAD PROFILE</a:t>
              </a:r>
              <a:endParaRPr sz="1000" b="1">
                <a:solidFill>
                  <a:srgbClr val="1D35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190500" y="361950"/>
              <a:ext cx="20001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60" b="1" i="0">
                  <a:solidFill>
                    <a:srgbClr val="1D355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500 kW </a:t>
              </a:r>
              <a:r>
                <a:rPr lang="en" sz="1008" b="1" i="0">
                  <a:solidFill>
                    <a:srgbClr val="E6394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(350 kVA Shaved)</a:t>
              </a:r>
              <a:endParaRPr sz="1860" b="1" i="0">
                <a:solidFill>
                  <a:srgbClr val="1D3557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1" name="Google Shape;201;p19"/>
            <p:cNvSpPr txBox="1"/>
            <p:nvPr/>
          </p:nvSpPr>
          <p:spPr>
            <a:xfrm>
              <a:off x="190500" y="819150"/>
              <a:ext cx="20001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 i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Inductive motor batch surges hit peak loads in 15-minute intervals, requiring 350 kVA shaved.</a:t>
              </a:r>
              <a:endParaRPr sz="900" b="0" i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2" name="Google Shape;202;p19"/>
          <p:cNvGrpSpPr/>
          <p:nvPr/>
        </p:nvGrpSpPr>
        <p:grpSpPr>
          <a:xfrm>
            <a:off x="6000750" y="476250"/>
            <a:ext cx="2381400" cy="1333500"/>
            <a:chOff x="0" y="0"/>
            <a:chExt cx="2381400" cy="1333500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0"/>
              <a:ext cx="2381400" cy="1333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0"/>
              <a:ext cx="2381400" cy="285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9"/>
            <p:cNvSpPr txBox="1"/>
            <p:nvPr/>
          </p:nvSpPr>
          <p:spPr>
            <a:xfrm>
              <a:off x="190500" y="152400"/>
              <a:ext cx="2000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" sz="1000" b="1">
                  <a:solidFill>
                    <a:srgbClr val="E63946"/>
                  </a:solidFill>
                  <a:latin typeface="Inter"/>
                  <a:ea typeface="Inter"/>
                  <a:cs typeface="Inter"/>
                  <a:sym typeface="Inter"/>
                </a:rPr>
                <a:t>GRID VULNERABILITY</a:t>
              </a:r>
              <a:endParaRPr sz="1000" b="1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190500" y="361950"/>
              <a:ext cx="20001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" sz="2480" b="1">
                  <a:solidFill>
                    <a:srgbClr val="E6394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8 Outages/Yr</a:t>
              </a:r>
              <a:endParaRPr sz="2480" b="1">
                <a:solidFill>
                  <a:srgbClr val="E6394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190500" y="819150"/>
              <a:ext cx="20001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 i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8 annual grid outage events driven by Suswa substation trips, costing $85k/event ($680k/yr total).</a:t>
              </a:r>
              <a:endParaRPr sz="900" b="0" i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8" name="Google Shape;208;p19"/>
          <p:cNvGrpSpPr/>
          <p:nvPr/>
        </p:nvGrpSpPr>
        <p:grpSpPr>
          <a:xfrm>
            <a:off x="3429000" y="2000250"/>
            <a:ext cx="4953000" cy="1428900"/>
            <a:chOff x="0" y="0"/>
            <a:chExt cx="4953000" cy="1428900"/>
          </a:xfrm>
        </p:grpSpPr>
        <p:sp>
          <p:nvSpPr>
            <p:cNvPr id="209" name="Google Shape;209;p19"/>
            <p:cNvSpPr/>
            <p:nvPr/>
          </p:nvSpPr>
          <p:spPr>
            <a:xfrm>
              <a:off x="0" y="0"/>
              <a:ext cx="4953000" cy="1428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0" y="0"/>
              <a:ext cx="57300" cy="14289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9"/>
            <p:cNvSpPr txBox="1"/>
            <p:nvPr/>
          </p:nvSpPr>
          <p:spPr>
            <a:xfrm>
              <a:off x="238125" y="171450"/>
              <a:ext cx="447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" sz="1000" b="1">
                  <a:solidFill>
                    <a:srgbClr val="E63946"/>
                  </a:solidFill>
                  <a:latin typeface="Inter"/>
                  <a:ea typeface="Inter"/>
                  <a:cs typeface="Inter"/>
                  <a:sym typeface="Inter"/>
                </a:rPr>
                <a:t>CRITICAL OPERATIONAL RISK</a:t>
              </a:r>
              <a:endParaRPr sz="1000" b="1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2" name="Google Shape;212;p19"/>
            <p:cNvSpPr txBox="1"/>
            <p:nvPr/>
          </p:nvSpPr>
          <p:spPr>
            <a:xfrm>
              <a:off x="238125" y="400050"/>
              <a:ext cx="4476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" sz="1500" b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Molten Plastic Solidification</a:t>
              </a:r>
              <a:endParaRPr sz="1500" b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238125" y="742950"/>
              <a:ext cx="44769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Momentary voltage drops or outages freeze molten plastic in extruders, causing $85,000 in ruined materials per event and days of manual cleaning downtime.</a:t>
              </a:r>
              <a:endParaRPr sz="1100" b="0" i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4" name="Google Shape;214;p19"/>
          <p:cNvGrpSpPr/>
          <p:nvPr/>
        </p:nvGrpSpPr>
        <p:grpSpPr>
          <a:xfrm>
            <a:off x="3429000" y="3619500"/>
            <a:ext cx="4953000" cy="1047900"/>
            <a:chOff x="0" y="0"/>
            <a:chExt cx="4953000" cy="1047900"/>
          </a:xfrm>
        </p:grpSpPr>
        <p:sp>
          <p:nvSpPr>
            <p:cNvPr id="215" name="Google Shape;215;p19"/>
            <p:cNvSpPr/>
            <p:nvPr/>
          </p:nvSpPr>
          <p:spPr>
            <a:xfrm>
              <a:off x="0" y="0"/>
              <a:ext cx="4953000" cy="1047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0" y="0"/>
              <a:ext cx="4953000" cy="19200"/>
            </a:xfrm>
            <a:prstGeom prst="rect">
              <a:avLst/>
            </a:prstGeom>
            <a:solidFill>
              <a:srgbClr val="1D3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238125" y="190500"/>
              <a:ext cx="2000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" sz="1000" b="1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FACILITY TYPE</a:t>
              </a:r>
              <a:endParaRPr sz="1000" b="1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8" name="Google Shape;218;p19"/>
            <p:cNvSpPr txBox="1"/>
            <p:nvPr/>
          </p:nvSpPr>
          <p:spPr>
            <a:xfrm>
              <a:off x="238125" y="428625"/>
              <a:ext cx="20001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5" b="0">
                  <a:solidFill>
                    <a:srgbClr val="1D355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Plastics Extrusion</a:t>
              </a:r>
              <a:endParaRPr sz="1295" b="0">
                <a:solidFill>
                  <a:srgbClr val="1D355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" sz="1018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Continuous Thermal Process</a:t>
              </a:r>
              <a:endParaRPr sz="1018" b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19" name="Google Shape;219;p19"/>
            <p:cNvCxnSpPr/>
            <p:nvPr/>
          </p:nvCxnSpPr>
          <p:spPr>
            <a:xfrm>
              <a:off x="2476500" y="190500"/>
              <a:ext cx="0" cy="6669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0" name="Google Shape;220;p19"/>
          <p:cNvSpPr txBox="1"/>
          <p:nvPr/>
        </p:nvSpPr>
        <p:spPr>
          <a:xfrm>
            <a:off x="6096000" y="3810000"/>
            <a:ext cx="2095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>
                <a:solidFill>
                  <a:srgbClr val="1D3557"/>
                </a:solidFill>
                <a:latin typeface="Inter"/>
                <a:ea typeface="Inter"/>
                <a:cs typeface="Inter"/>
                <a:sym typeface="Inter"/>
              </a:rPr>
              <a:t>TARIFF &amp; RISK SUMMARY</a:t>
            </a:r>
            <a:endParaRPr sz="1000" b="1" i="0">
              <a:solidFill>
                <a:srgbClr val="1D3557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50" b="0" i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• Demand Charge: KES 1,100/kVA</a:t>
            </a:r>
            <a:br>
              <a:rPr lang="en" sz="950" b="0" i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950" b="0" i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• Outage Cost: $85,000 / Event</a:t>
            </a:r>
            <a:br>
              <a:rPr lang="en" sz="950" b="0" i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950" b="0" i="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• Surge Time: 15-Min Peaks</a:t>
            </a:r>
            <a:endParaRPr sz="950" b="0" i="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grpSp>
          <p:nvGrpSpPr>
            <p:cNvPr id="226" name="Google Shape;226;p20"/>
            <p:cNvGrpSpPr/>
            <p:nvPr/>
          </p:nvGrpSpPr>
          <p:grpSpPr>
            <a:xfrm>
              <a:off x="0" y="0"/>
              <a:ext cx="9144000" cy="5143500"/>
              <a:chOff x="0" y="0"/>
              <a:chExt cx="9144000" cy="5143500"/>
            </a:xfrm>
          </p:grpSpPr>
          <p:sp>
            <p:nvSpPr>
              <p:cNvPr id="227" name="Google Shape;227;p20"/>
              <p:cNvSpPr/>
              <p:nvPr/>
            </p:nvSpPr>
            <p:spPr>
              <a:xfrm>
                <a:off x="0" y="0"/>
                <a:ext cx="9144000" cy="5143500"/>
              </a:xfrm>
              <a:prstGeom prst="rect">
                <a:avLst/>
              </a:prstGeom>
              <a:solidFill>
                <a:srgbClr val="F4F4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0"/>
              <p:cNvSpPr/>
              <p:nvPr/>
            </p:nvSpPr>
            <p:spPr>
              <a:xfrm>
                <a:off x="0" y="0"/>
                <a:ext cx="9144000" cy="5143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9" name="Google Shape;229;p20"/>
            <p:cNvSpPr/>
            <p:nvPr/>
          </p:nvSpPr>
          <p:spPr>
            <a:xfrm>
              <a:off x="0" y="0"/>
              <a:ext cx="3048000" cy="5143500"/>
            </a:xfrm>
            <a:prstGeom prst="rect">
              <a:avLst/>
            </a:prstGeom>
            <a:solidFill>
              <a:srgbClr val="1D3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0"/>
            <p:cNvSpPr/>
            <p:nvPr/>
          </p:nvSpPr>
          <p:spPr>
            <a:xfrm>
              <a:off x="381000" y="381000"/>
              <a:ext cx="381000" cy="381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0"/>
            <p:cNvSpPr txBox="1"/>
            <p:nvPr/>
          </p:nvSpPr>
          <p:spPr>
            <a:xfrm>
              <a:off x="381000" y="571500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32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Kenya Results</a:t>
              </a:r>
              <a:endParaRPr sz="3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32" name="Google Shape;232;p20"/>
            <p:cNvSpPr txBox="1"/>
            <p:nvPr/>
          </p:nvSpPr>
          <p:spPr>
            <a:xfrm>
              <a:off x="381000" y="2000250"/>
              <a:ext cx="22860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1400" b="0" i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BESS Sizing &amp; Value Stream Comparison</a:t>
              </a:r>
              <a:endParaRPr sz="1400" b="0" i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3" name="Google Shape;233;p20"/>
          <p:cNvGrpSpPr/>
          <p:nvPr/>
        </p:nvGrpSpPr>
        <p:grpSpPr>
          <a:xfrm>
            <a:off x="3429000" y="381000"/>
            <a:ext cx="5334150" cy="4238775"/>
            <a:chOff x="0" y="0"/>
            <a:chExt cx="5334150" cy="4238775"/>
          </a:xfrm>
        </p:grpSpPr>
        <p:grpSp>
          <p:nvGrpSpPr>
            <p:cNvPr id="234" name="Google Shape;234;p20"/>
            <p:cNvGrpSpPr/>
            <p:nvPr/>
          </p:nvGrpSpPr>
          <p:grpSpPr>
            <a:xfrm>
              <a:off x="0" y="0"/>
              <a:ext cx="5334000" cy="904800"/>
              <a:chOff x="0" y="0"/>
              <a:chExt cx="5334000" cy="904800"/>
            </a:xfrm>
          </p:grpSpPr>
          <p:sp>
            <p:nvSpPr>
              <p:cNvPr id="235" name="Google Shape;235;p20"/>
              <p:cNvSpPr/>
              <p:nvPr/>
            </p:nvSpPr>
            <p:spPr>
              <a:xfrm>
                <a:off x="0" y="0"/>
                <a:ext cx="5334000" cy="9048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D1D1C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0"/>
              <p:cNvSpPr/>
              <p:nvPr/>
            </p:nvSpPr>
            <p:spPr>
              <a:xfrm>
                <a:off x="0" y="0"/>
                <a:ext cx="5334000" cy="38100"/>
              </a:xfrm>
              <a:prstGeom prst="rect">
                <a:avLst/>
              </a:prstGeom>
              <a:solidFill>
                <a:srgbClr val="E6394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0"/>
              <p:cNvSpPr txBox="1"/>
              <p:nvPr/>
            </p:nvSpPr>
            <p:spPr>
              <a:xfrm>
                <a:off x="190500" y="133350"/>
                <a:ext cx="4953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25" b="1">
                    <a:solidFill>
                      <a:srgbClr val="1D3557"/>
                    </a:solidFill>
                    <a:latin typeface="Inter"/>
                    <a:ea typeface="Inter"/>
                    <a:cs typeface="Inter"/>
                    <a:sym typeface="Inter"/>
                  </a:rPr>
                  <a:t>BESS Sizing Architecture (1,000 kWh Envelope)</a:t>
                </a:r>
                <a:endParaRPr sz="925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lang="en" sz="971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Sized via envelope function </a:t>
                </a:r>
                <a:r>
                  <a:rPr lang="en" sz="971" b="1">
                    <a:solidFill>
                      <a:srgbClr val="E63946"/>
                    </a:solidFill>
                    <a:latin typeface="Inter"/>
                    <a:ea typeface="Inter"/>
                    <a:cs typeface="Inter"/>
                    <a:sym typeface="Inter"/>
                  </a:rPr>
                  <a:t>max(kWh)</a:t>
                </a:r>
                <a:r>
                  <a:rPr lang="en" sz="971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 to avoid capital double-counting. Standalone peak shaving requires </a:t>
                </a:r>
                <a:r>
                  <a:rPr lang="en" sz="971" b="1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335.6 kWh</a:t>
                </a:r>
                <a:r>
                  <a:rPr lang="en" sz="971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, while full multi-application integration deploys </a:t>
                </a:r>
                <a:r>
                  <a:rPr lang="en" sz="971" b="1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1,000 kWh</a:t>
                </a:r>
                <a:r>
                  <a:rPr lang="en" sz="971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sz="971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8" name="Google Shape;238;p20"/>
            <p:cNvGrpSpPr/>
            <p:nvPr/>
          </p:nvGrpSpPr>
          <p:grpSpPr>
            <a:xfrm>
              <a:off x="0" y="1047750"/>
              <a:ext cx="2571900" cy="1619100"/>
              <a:chOff x="0" y="0"/>
              <a:chExt cx="2571900" cy="1619100"/>
            </a:xfrm>
          </p:grpSpPr>
          <p:sp>
            <p:nvSpPr>
              <p:cNvPr id="239" name="Google Shape;239;p20"/>
              <p:cNvSpPr/>
              <p:nvPr/>
            </p:nvSpPr>
            <p:spPr>
              <a:xfrm>
                <a:off x="0" y="0"/>
                <a:ext cx="2571900" cy="16191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D1D1C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0"/>
              <p:cNvSpPr/>
              <p:nvPr/>
            </p:nvSpPr>
            <p:spPr>
              <a:xfrm>
                <a:off x="0" y="0"/>
                <a:ext cx="2571900" cy="38100"/>
              </a:xfrm>
              <a:prstGeom prst="rect">
                <a:avLst/>
              </a:prstGeom>
              <a:solidFill>
                <a:srgbClr val="E6394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0"/>
              <p:cNvSpPr txBox="1"/>
              <p:nvPr/>
            </p:nvSpPr>
            <p:spPr>
              <a:xfrm>
                <a:off x="152400" y="133350"/>
                <a:ext cx="2267100" cy="13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E63946"/>
                    </a:solidFill>
                    <a:latin typeface="Inter"/>
                    <a:ea typeface="Inter"/>
                    <a:cs typeface="Inter"/>
                    <a:sym typeface="Inter"/>
                  </a:rPr>
                  <a:t>INDUSTRIAL UPS (LOSS PREVENTION)</a:t>
                </a:r>
                <a:endParaRPr sz="950" b="1">
                  <a:solidFill>
                    <a:srgbClr val="E6394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" sz="2200" b="1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$680,000</a:t>
                </a:r>
                <a:r>
                  <a:rPr lang="en" sz="1100" b="0">
                    <a:solidFill>
                      <a:srgbClr val="4A4A4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/yr</a:t>
                </a:r>
                <a:endParaRPr sz="220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950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Dominant financial benefit. Prevents molten plastic solidification and extruder downtime across 8 annual grid outages.</a:t>
                </a:r>
                <a:endParaRPr sz="95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2" name="Google Shape;242;p20"/>
            <p:cNvGrpSpPr/>
            <p:nvPr/>
          </p:nvGrpSpPr>
          <p:grpSpPr>
            <a:xfrm>
              <a:off x="2762250" y="1047750"/>
              <a:ext cx="2571900" cy="1619100"/>
              <a:chOff x="0" y="0"/>
              <a:chExt cx="2571900" cy="1619100"/>
            </a:xfrm>
          </p:grpSpPr>
          <p:sp>
            <p:nvSpPr>
              <p:cNvPr id="243" name="Google Shape;243;p20"/>
              <p:cNvSpPr/>
              <p:nvPr/>
            </p:nvSpPr>
            <p:spPr>
              <a:xfrm>
                <a:off x="0" y="0"/>
                <a:ext cx="2571900" cy="16191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D1D1C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0" y="0"/>
                <a:ext cx="2571900" cy="38100"/>
              </a:xfrm>
              <a:prstGeom prst="rect">
                <a:avLst/>
              </a:prstGeom>
              <a:solidFill>
                <a:srgbClr val="1D3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0"/>
              <p:cNvSpPr txBox="1"/>
              <p:nvPr/>
            </p:nvSpPr>
            <p:spPr>
              <a:xfrm>
                <a:off x="152400" y="133350"/>
                <a:ext cx="2267100" cy="13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1D3557"/>
                    </a:solidFill>
                    <a:latin typeface="Inter"/>
                    <a:ea typeface="Inter"/>
                    <a:cs typeface="Inter"/>
                    <a:sym typeface="Inter"/>
                  </a:rPr>
                  <a:t>PEAK SHAVING (DEMAND CHARGES)</a:t>
                </a:r>
                <a:endParaRPr sz="950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" sz="2200" b="1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$35,538</a:t>
                </a:r>
                <a:r>
                  <a:rPr lang="en" sz="1100" b="0">
                    <a:solidFill>
                      <a:srgbClr val="4A4A4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/yr</a:t>
                </a:r>
                <a:endParaRPr sz="220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950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High-return core application. Neutralizes punitive KES 1,100/kVA CI1 capacity charges by clipping 350 kVA motor start surges.</a:t>
                </a:r>
                <a:endParaRPr sz="95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6" name="Google Shape;246;p20"/>
            <p:cNvGrpSpPr/>
            <p:nvPr/>
          </p:nvGrpSpPr>
          <p:grpSpPr>
            <a:xfrm>
              <a:off x="0" y="2809875"/>
              <a:ext cx="2571900" cy="1428900"/>
              <a:chOff x="0" y="0"/>
              <a:chExt cx="2571900" cy="1428900"/>
            </a:xfrm>
          </p:grpSpPr>
          <p:sp>
            <p:nvSpPr>
              <p:cNvPr id="247" name="Google Shape;247;p20"/>
              <p:cNvSpPr/>
              <p:nvPr/>
            </p:nvSpPr>
            <p:spPr>
              <a:xfrm>
                <a:off x="0" y="0"/>
                <a:ext cx="2571900" cy="14289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D1D1C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0"/>
              <p:cNvSpPr/>
              <p:nvPr/>
            </p:nvSpPr>
            <p:spPr>
              <a:xfrm>
                <a:off x="0" y="0"/>
                <a:ext cx="2571900" cy="38100"/>
              </a:xfrm>
              <a:prstGeom prst="rect">
                <a:avLst/>
              </a:prstGeom>
              <a:solidFill>
                <a:srgbClr val="1D3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0"/>
              <p:cNvSpPr txBox="1"/>
              <p:nvPr/>
            </p:nvSpPr>
            <p:spPr>
              <a:xfrm>
                <a:off x="152400" y="133350"/>
                <a:ext cx="2267100" cy="11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1D3557"/>
                    </a:solidFill>
                    <a:latin typeface="Inter"/>
                    <a:ea typeface="Inter"/>
                    <a:cs typeface="Inter"/>
                    <a:sym typeface="Inter"/>
                  </a:rPr>
                  <a:t>TOU ARBITRAGE (LOAD SHIFTING)</a:t>
                </a:r>
                <a:endParaRPr sz="950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solidFill>
                      <a:srgbClr val="E6394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Sub-Economic ($0)</a:t>
                </a:r>
                <a:endParaRPr sz="1600" b="1">
                  <a:solidFill>
                    <a:srgbClr val="E63946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950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TOU spread ($0.1205/kWh) fails to cover BESS LCOS ($0.1881/kWh) without pairing with on-site Solar PV.</a:t>
                </a:r>
                <a:endParaRPr sz="95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0" name="Google Shape;250;p20"/>
            <p:cNvGrpSpPr/>
            <p:nvPr/>
          </p:nvGrpSpPr>
          <p:grpSpPr>
            <a:xfrm>
              <a:off x="2762250" y="2809875"/>
              <a:ext cx="2571900" cy="1428900"/>
              <a:chOff x="0" y="0"/>
              <a:chExt cx="2571900" cy="1428900"/>
            </a:xfrm>
          </p:grpSpPr>
          <p:sp>
            <p:nvSpPr>
              <p:cNvPr id="251" name="Google Shape;251;p20"/>
              <p:cNvSpPr/>
              <p:nvPr/>
            </p:nvSpPr>
            <p:spPr>
              <a:xfrm>
                <a:off x="0" y="0"/>
                <a:ext cx="2571900" cy="14289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D1D1C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0" y="0"/>
                <a:ext cx="2571900" cy="38100"/>
              </a:xfrm>
              <a:prstGeom prst="rect">
                <a:avLst/>
              </a:prstGeom>
              <a:solidFill>
                <a:srgbClr val="1D355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0"/>
              <p:cNvSpPr txBox="1"/>
              <p:nvPr/>
            </p:nvSpPr>
            <p:spPr>
              <a:xfrm>
                <a:off x="152400" y="133350"/>
                <a:ext cx="2267100" cy="11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1D3557"/>
                    </a:solidFill>
                    <a:latin typeface="Inter"/>
                    <a:ea typeface="Inter"/>
                    <a:cs typeface="Inter"/>
                    <a:sym typeface="Inter"/>
                  </a:rPr>
                  <a:t>DIESEL DISPLACEMENT</a:t>
                </a:r>
                <a:endParaRPr sz="950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" sz="1600" b="1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Marginal ($682</a:t>
                </a:r>
                <a:r>
                  <a:rPr lang="en" sz="1000" b="0">
                    <a:solidFill>
                      <a:srgbClr val="4A4A4A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/yr</a:t>
                </a:r>
                <a:r>
                  <a:rPr lang="en" sz="1600" b="1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)</a:t>
                </a:r>
                <a:endParaRPr sz="160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950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Minimal direct runtime savings in Kenya due to brief outages; primary fuel value is subsumed by Industrial UPS resilience.</a:t>
                </a:r>
                <a:endParaRPr sz="95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9" name="Google Shape;259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4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0" name="Google Shape;260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25" y="9525"/>
              <a:ext cx="8972700" cy="4972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1" name="Google Shape;261;p21"/>
          <p:cNvGrpSpPr/>
          <p:nvPr/>
        </p:nvGrpSpPr>
        <p:grpSpPr>
          <a:xfrm>
            <a:off x="381000" y="285750"/>
            <a:ext cx="8382000" cy="38100"/>
            <a:chOff x="381000" y="285750"/>
            <a:chExt cx="8382000" cy="38100"/>
          </a:xfrm>
        </p:grpSpPr>
        <p:sp>
          <p:nvSpPr>
            <p:cNvPr id="262" name="Google Shape;262;p21"/>
            <p:cNvSpPr/>
            <p:nvPr/>
          </p:nvSpPr>
          <p:spPr>
            <a:xfrm>
              <a:off x="381000" y="285750"/>
              <a:ext cx="8382000" cy="192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381000" y="285750"/>
              <a:ext cx="1143000" cy="381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21"/>
          <p:cNvSpPr txBox="1"/>
          <p:nvPr/>
        </p:nvSpPr>
        <p:spPr>
          <a:xfrm>
            <a:off x="381000" y="428625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2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Role of AI-Driven EMS in Dispatch Optimization</a:t>
            </a:r>
            <a:endParaRPr sz="2720" b="1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265" name="Google Shape;265;p21"/>
          <p:cNvGrpSpPr/>
          <p:nvPr/>
        </p:nvGrpSpPr>
        <p:grpSpPr>
          <a:xfrm>
            <a:off x="381000" y="1143000"/>
            <a:ext cx="3810000" cy="3619500"/>
            <a:chOff x="0" y="0"/>
            <a:chExt cx="3810000" cy="3619500"/>
          </a:xfrm>
        </p:grpSpPr>
        <p:sp>
          <p:nvSpPr>
            <p:cNvPr id="266" name="Google Shape;266;p21"/>
            <p:cNvSpPr/>
            <p:nvPr/>
          </p:nvSpPr>
          <p:spPr>
            <a:xfrm>
              <a:off x="0" y="0"/>
              <a:ext cx="3810000" cy="3619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1"/>
            <p:cNvSpPr/>
            <p:nvPr/>
          </p:nvSpPr>
          <p:spPr>
            <a:xfrm>
              <a:off x="0" y="0"/>
              <a:ext cx="3810000" cy="38100"/>
            </a:xfrm>
            <a:prstGeom prst="rect">
              <a:avLst/>
            </a:prstGeom>
            <a:solidFill>
              <a:srgbClr val="1D3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1"/>
            <p:cNvSpPr txBox="1"/>
            <p:nvPr/>
          </p:nvSpPr>
          <p:spPr>
            <a:xfrm>
              <a:off x="190500" y="152400"/>
              <a:ext cx="3429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rPr>
                <a:t>EMS DISPATCH CONTROL SCHEMATIC</a:t>
              </a:r>
              <a:endParaRPr sz="1000" b="1">
                <a:solidFill>
                  <a:srgbClr val="1D35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69" name="Google Shape;269;p21"/>
            <p:cNvCxnSpPr/>
            <p:nvPr/>
          </p:nvCxnSpPr>
          <p:spPr>
            <a:xfrm>
              <a:off x="190500" y="400050"/>
              <a:ext cx="3429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0" name="Google Shape;270;p21"/>
            <p:cNvSpPr/>
            <p:nvPr/>
          </p:nvSpPr>
          <p:spPr>
            <a:xfrm>
              <a:off x="190500" y="523875"/>
              <a:ext cx="1285800" cy="1619100"/>
            </a:xfrm>
            <a:prstGeom prst="rect">
              <a:avLst/>
            </a:prstGeom>
            <a:solidFill>
              <a:srgbClr val="F4F4F0"/>
            </a:solidFill>
            <a:ln w="9525" cap="flat" cmpd="sng">
              <a:solidFill>
                <a:srgbClr val="1D3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1"/>
            <p:cNvSpPr txBox="1"/>
            <p:nvPr/>
          </p:nvSpPr>
          <p:spPr>
            <a:xfrm>
              <a:off x="266700" y="600075"/>
              <a:ext cx="1133400" cy="15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i="0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rPr>
                <a:t>INPUT DATA</a:t>
              </a:r>
              <a:endParaRPr sz="800" b="1" i="0">
                <a:solidFill>
                  <a:srgbClr val="1D35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2" name="Google Shape;272;p21"/>
            <p:cNvSpPr txBox="1"/>
            <p:nvPr/>
          </p:nvSpPr>
          <p:spPr>
            <a:xfrm>
              <a:off x="266700" y="771525"/>
              <a:ext cx="1133400" cy="1285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80" b="0" i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EPRA Tariff Structures</a:t>
              </a:r>
              <a:endParaRPr sz="780" b="0" i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80" b="0" i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Historical &amp; Forecasted Load Profile</a:t>
              </a:r>
              <a:endParaRPr sz="780" b="0" i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80" b="0" i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Presence &amp; Forecasted On-Site Solar</a:t>
              </a:r>
              <a:endParaRPr sz="780" b="0" i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80" b="0" i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• BESS State of Charge (SoC)</a:t>
              </a:r>
              <a:endParaRPr sz="780" b="0" i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1476375" y="1333500"/>
              <a:ext cx="28590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457B9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1762125" y="857250"/>
              <a:ext cx="1000200" cy="9525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1762125" y="857250"/>
              <a:ext cx="1000200" cy="381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1"/>
            <p:cNvSpPr txBox="1"/>
            <p:nvPr/>
          </p:nvSpPr>
          <p:spPr>
            <a:xfrm>
              <a:off x="1857375" y="1000125"/>
              <a:ext cx="809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E63946"/>
                  </a:solidFill>
                  <a:latin typeface="Inter"/>
                  <a:ea typeface="Inter"/>
                  <a:cs typeface="Inter"/>
                  <a:sym typeface="Inter"/>
                </a:rPr>
                <a:t>CORE ENGINE</a:t>
              </a:r>
              <a:endParaRPr sz="800" b="1">
                <a:solidFill>
                  <a:srgbClr val="E6394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7" name="Google Shape;277;p21"/>
            <p:cNvSpPr txBox="1"/>
            <p:nvPr/>
          </p:nvSpPr>
          <p:spPr>
            <a:xfrm>
              <a:off x="1809750" y="1219200"/>
              <a:ext cx="9048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AI-DRIVEN EMS</a:t>
              </a:r>
              <a:endParaRPr sz="11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78" name="Google Shape;278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762250" y="1323975"/>
              <a:ext cx="2667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21"/>
            <p:cNvSpPr/>
            <p:nvPr/>
          </p:nvSpPr>
          <p:spPr>
            <a:xfrm>
              <a:off x="3048000" y="971550"/>
              <a:ext cx="571500" cy="714300"/>
            </a:xfrm>
            <a:prstGeom prst="rect">
              <a:avLst/>
            </a:prstGeom>
            <a:solidFill>
              <a:srgbClr val="E6394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1"/>
            <p:cNvSpPr txBox="1"/>
            <p:nvPr/>
          </p:nvSpPr>
          <p:spPr>
            <a:xfrm>
              <a:off x="3076575" y="1066800"/>
              <a:ext cx="514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4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DISPATCH ACTION</a:t>
              </a:r>
              <a:endParaRPr sz="74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81" name="Google Shape;281;p21"/>
            <p:cNvCxnSpPr/>
            <p:nvPr/>
          </p:nvCxnSpPr>
          <p:spPr>
            <a:xfrm>
              <a:off x="190500" y="2286000"/>
              <a:ext cx="3429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2" name="Google Shape;282;p21"/>
            <p:cNvSpPr/>
            <p:nvPr/>
          </p:nvSpPr>
          <p:spPr>
            <a:xfrm>
              <a:off x="266700" y="2429100"/>
              <a:ext cx="3324300" cy="952500"/>
            </a:xfrm>
            <a:prstGeom prst="rect">
              <a:avLst/>
            </a:prstGeom>
            <a:solidFill>
              <a:srgbClr val="F4F4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1"/>
            <p:cNvSpPr txBox="1"/>
            <p:nvPr/>
          </p:nvSpPr>
          <p:spPr>
            <a:xfrm>
              <a:off x="417150" y="2466975"/>
              <a:ext cx="3023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TARGET METRIC</a:t>
              </a:r>
              <a:endParaRPr sz="800" b="1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4" name="Google Shape;284;p21"/>
            <p:cNvSpPr txBox="1"/>
            <p:nvPr/>
          </p:nvSpPr>
          <p:spPr>
            <a:xfrm>
              <a:off x="417150" y="2762250"/>
              <a:ext cx="30234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E6394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kVA Peak </a:t>
              </a:r>
              <a:r>
                <a:rPr lang="en" sz="1100">
                  <a:solidFill>
                    <a:srgbClr val="E6394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shaving, Diesel Displacement, and an Industrial UPS</a:t>
              </a:r>
              <a:endParaRPr sz="1100" b="0">
                <a:solidFill>
                  <a:srgbClr val="E6394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85" name="Google Shape;285;p21"/>
          <p:cNvGrpSpPr/>
          <p:nvPr/>
        </p:nvGrpSpPr>
        <p:grpSpPr>
          <a:xfrm>
            <a:off x="4572000" y="1143000"/>
            <a:ext cx="4191000" cy="3619575"/>
            <a:chOff x="0" y="0"/>
            <a:chExt cx="4191000" cy="3619575"/>
          </a:xfrm>
        </p:grpSpPr>
        <p:grpSp>
          <p:nvGrpSpPr>
            <p:cNvPr id="286" name="Google Shape;286;p21"/>
            <p:cNvGrpSpPr/>
            <p:nvPr/>
          </p:nvGrpSpPr>
          <p:grpSpPr>
            <a:xfrm>
              <a:off x="0" y="0"/>
              <a:ext cx="4191000" cy="1000200"/>
              <a:chOff x="0" y="0"/>
              <a:chExt cx="4191000" cy="1000200"/>
            </a:xfrm>
          </p:grpSpPr>
          <p:sp>
            <p:nvSpPr>
              <p:cNvPr id="287" name="Google Shape;287;p21"/>
              <p:cNvSpPr/>
              <p:nvPr/>
            </p:nvSpPr>
            <p:spPr>
              <a:xfrm>
                <a:off x="0" y="0"/>
                <a:ext cx="4191000" cy="10002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D1D1C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1"/>
              <p:cNvSpPr/>
              <p:nvPr/>
            </p:nvSpPr>
            <p:spPr>
              <a:xfrm>
                <a:off x="0" y="0"/>
                <a:ext cx="57300" cy="1000200"/>
              </a:xfrm>
              <a:prstGeom prst="rect">
                <a:avLst/>
              </a:prstGeom>
              <a:solidFill>
                <a:srgbClr val="E6394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1"/>
              <p:cNvSpPr txBox="1"/>
              <p:nvPr/>
            </p:nvSpPr>
            <p:spPr>
              <a:xfrm>
                <a:off x="190500" y="13335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E63946"/>
                    </a:solidFill>
                    <a:latin typeface="Inter"/>
                    <a:ea typeface="Inter"/>
                    <a:cs typeface="Inter"/>
                    <a:sym typeface="Inter"/>
                  </a:rPr>
                  <a:t>MARKET REALITY: TOU ARBITRAGE</a:t>
                </a:r>
                <a:endParaRPr sz="1000" b="1">
                  <a:solidFill>
                    <a:srgbClr val="E6394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0" name="Google Shape;290;p21"/>
              <p:cNvSpPr txBox="1"/>
              <p:nvPr/>
            </p:nvSpPr>
            <p:spPr>
              <a:xfrm>
                <a:off x="190500" y="361950"/>
                <a:ext cx="38100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lang="en" sz="1300" b="0">
                    <a:solidFill>
                      <a:srgbClr val="11111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Pure grid-to-battery TOU arbitrage is sub-economic in Kenya.</a:t>
                </a:r>
                <a:endParaRPr sz="1300" b="0">
                  <a:solidFill>
                    <a:srgbClr val="11111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91" name="Google Shape;291;p21"/>
            <p:cNvGrpSpPr/>
            <p:nvPr/>
          </p:nvGrpSpPr>
          <p:grpSpPr>
            <a:xfrm>
              <a:off x="0" y="1238250"/>
              <a:ext cx="4191000" cy="2381325"/>
              <a:chOff x="0" y="0"/>
              <a:chExt cx="4191000" cy="2381325"/>
            </a:xfrm>
          </p:grpSpPr>
          <p:sp>
            <p:nvSpPr>
              <p:cNvPr id="292" name="Google Shape;292;p21"/>
              <p:cNvSpPr/>
              <p:nvPr/>
            </p:nvSpPr>
            <p:spPr>
              <a:xfrm>
                <a:off x="0" y="0"/>
                <a:ext cx="4191000" cy="28500"/>
              </a:xfrm>
              <a:prstGeom prst="rect">
                <a:avLst/>
              </a:prstGeom>
              <a:solidFill>
                <a:srgbClr val="1111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1"/>
              <p:cNvSpPr txBox="1"/>
              <p:nvPr/>
            </p:nvSpPr>
            <p:spPr>
              <a:xfrm>
                <a:off x="0" y="142875"/>
                <a:ext cx="419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80" b="0">
                    <a:solidFill>
                      <a:srgbClr val="1D355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Dynamic Dispatch Aggregation</a:t>
                </a:r>
                <a:endParaRPr sz="1480" b="0">
                  <a:solidFill>
                    <a:srgbClr val="1D355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94" name="Google Shape;294;p21"/>
              <p:cNvSpPr txBox="1"/>
              <p:nvPr/>
            </p:nvSpPr>
            <p:spPr>
              <a:xfrm>
                <a:off x="0" y="428625"/>
                <a:ext cx="4191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" sz="1203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AI-driven EMS aggregates real-time load profiles and tariff structures into a unified operational model, continuously adjusting charge/discharge schedules to maximize financial yield.</a:t>
                </a:r>
                <a:endParaRPr sz="1203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5" name="Google Shape;295;p21"/>
              <p:cNvSpPr txBox="1"/>
              <p:nvPr/>
            </p:nvSpPr>
            <p:spPr>
              <a:xfrm>
                <a:off x="0" y="1285875"/>
                <a:ext cx="419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80" b="0">
                    <a:solidFill>
                      <a:srgbClr val="1D355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Navigating ITOU Baselines</a:t>
                </a:r>
                <a:endParaRPr sz="1480" b="0">
                  <a:solidFill>
                    <a:srgbClr val="1D355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96" name="Google Shape;296;p21"/>
              <p:cNvSpPr txBox="1"/>
              <p:nvPr/>
            </p:nvSpPr>
            <p:spPr>
              <a:xfrm>
                <a:off x="0" y="1571625"/>
                <a:ext cx="41910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lang="en" sz="1300" b="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Intelligent software is mandatory to navigate EPRA's strict historical baseline logic and execute precise kVA peak clipping to eliminate severe demand charges.</a:t>
                </a:r>
                <a:endParaRPr sz="1300" b="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/>
          <p:nvPr/>
        </p:nvSpPr>
        <p:spPr>
          <a:xfrm>
            <a:off x="381000" y="381000"/>
            <a:ext cx="8382000" cy="19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2"/>
          <p:cNvSpPr/>
          <p:nvPr/>
        </p:nvSpPr>
        <p:spPr>
          <a:xfrm>
            <a:off x="381000" y="381000"/>
            <a:ext cx="1143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381000" y="714375"/>
            <a:ext cx="83820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 sz="3600" b="1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0">
                <a:solidFill>
                  <a:srgbClr val="E63946"/>
                </a:solidFill>
                <a:latin typeface="Inter Medium"/>
                <a:ea typeface="Inter Medium"/>
                <a:cs typeface="Inter Medium"/>
                <a:sym typeface="Inter Medium"/>
              </a:rPr>
              <a:t>Thank you for your attention.</a:t>
            </a:r>
            <a:endParaRPr sz="1800" b="0">
              <a:solidFill>
                <a:srgbClr val="E6394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304" name="Google Shape;304;p22"/>
          <p:cNvGrpSpPr/>
          <p:nvPr/>
        </p:nvGrpSpPr>
        <p:grpSpPr>
          <a:xfrm>
            <a:off x="381000" y="2095500"/>
            <a:ext cx="4953000" cy="2286000"/>
            <a:chOff x="0" y="0"/>
            <a:chExt cx="4953000" cy="2286000"/>
          </a:xfrm>
        </p:grpSpPr>
        <p:sp>
          <p:nvSpPr>
            <p:cNvPr id="305" name="Google Shape;305;p22"/>
            <p:cNvSpPr/>
            <p:nvPr/>
          </p:nvSpPr>
          <p:spPr>
            <a:xfrm>
              <a:off x="0" y="0"/>
              <a:ext cx="4953000" cy="2286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D1D1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0" y="0"/>
              <a:ext cx="4953000" cy="38100"/>
            </a:xfrm>
            <a:prstGeom prst="rect">
              <a:avLst/>
            </a:prstGeom>
            <a:solidFill>
              <a:srgbClr val="1D355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2"/>
            <p:cNvSpPr txBox="1"/>
            <p:nvPr/>
          </p:nvSpPr>
          <p:spPr>
            <a:xfrm>
              <a:off x="285750" y="266700"/>
              <a:ext cx="43815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1D355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Peter Mwiti</a:t>
              </a:r>
              <a:endParaRPr sz="2200" b="1">
                <a:solidFill>
                  <a:srgbClr val="1D3557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250" b="0">
                  <a:solidFill>
                    <a:srgbClr val="4A4A4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BSc Electrical Engineering, DeKUT</a:t>
              </a:r>
              <a:endParaRPr sz="1250" b="0">
                <a:solidFill>
                  <a:srgbClr val="4A4A4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rPr>
                <a:t>Email: </a:t>
              </a:r>
              <a:r>
                <a:rPr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mwitipeter750@gmail.com</a:t>
              </a:r>
              <a:endParaRPr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D3557"/>
                  </a:solidFill>
                  <a:latin typeface="Inter"/>
                  <a:ea typeface="Inter"/>
                  <a:cs typeface="Inter"/>
                  <a:sym typeface="Inter"/>
                </a:rPr>
                <a:t>Phone: </a:t>
              </a:r>
              <a:r>
                <a:rPr lang="en" sz="11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0791632980</a:t>
              </a:r>
              <a:endParaRPr sz="11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08" name="Google Shape;308;p22" title="Screenshot 2026-09-21 1555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4651" y="1309300"/>
            <a:ext cx="3214504" cy="10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2" title="IEK 33r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8975" y="2714550"/>
            <a:ext cx="2925850" cy="10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980</Words>
  <Application>Microsoft Office PowerPoint</Application>
  <PresentationFormat>On-screen Show (16:9)</PresentationFormat>
  <Paragraphs>128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Space Grotesk</vt:lpstr>
      <vt:lpstr>Inter</vt:lpstr>
      <vt:lpstr>Inter SemiBold</vt:lpstr>
      <vt:lpstr>Arial</vt:lpstr>
      <vt:lpstr>Inter Medium</vt:lpstr>
      <vt:lpstr>Space Grotesk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nguatapeter780@gmail.com</cp:lastModifiedBy>
  <cp:revision>1</cp:revision>
  <dcterms:modified xsi:type="dcterms:W3CDTF">2026-09-22T12:52:26Z</dcterms:modified>
</cp:coreProperties>
</file>